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9"/>
  </p:notesMasterIdLst>
  <p:sldIdLst>
    <p:sldId id="256" r:id="rId2"/>
    <p:sldId id="291" r:id="rId3"/>
    <p:sldId id="292" r:id="rId4"/>
    <p:sldId id="294" r:id="rId5"/>
    <p:sldId id="293" r:id="rId6"/>
    <p:sldId id="295" r:id="rId7"/>
    <p:sldId id="289"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neha Manjunath Chakrabhavi" initials="SC" lastIdx="1" clrIdx="0">
    <p:extLst>
      <p:ext uri="{19B8F6BF-5375-455C-9EA6-DF929625EA0E}">
        <p15:presenceInfo xmlns:p15="http://schemas.microsoft.com/office/powerpoint/2012/main" userId="S::chakrabhavi.s@northeastern.edu::9cde7e57-7942-4e04-90b0-d0ec3865e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206" autoAdjust="0"/>
  </p:normalViewPr>
  <p:slideViewPr>
    <p:cSldViewPr snapToGrid="0">
      <p:cViewPr varScale="1">
        <p:scale>
          <a:sx n="88" d="100"/>
          <a:sy n="88" d="100"/>
        </p:scale>
        <p:origin x="46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72B3D2-58BB-4D23-8381-7222D48EB40D}" type="datetimeFigureOut">
              <a:rPr lang="en-IN" smtClean="0"/>
              <a:t>12-04-2024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4A1131-EC7B-465E-8E6C-639174B816D9}" type="slidenum">
              <a:rPr lang="en-IN" smtClean="0"/>
              <a:t>‹#›</a:t>
            </a:fld>
            <a:endParaRPr lang="en-IN"/>
          </a:p>
        </p:txBody>
      </p:sp>
    </p:spTree>
    <p:extLst>
      <p:ext uri="{BB962C8B-B14F-4D97-AF65-F5344CB8AC3E}">
        <p14:creationId xmlns:p14="http://schemas.microsoft.com/office/powerpoint/2010/main" val="2910850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F42C6B-38AD-415B-A6F2-CF9A196D78C0}"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2542926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F42C6B-38AD-415B-A6F2-CF9A196D78C0}"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1600741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F42C6B-38AD-415B-A6F2-CF9A196D78C0}"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301672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F42C6B-38AD-415B-A6F2-CF9A196D78C0}" type="datetimeFigureOut">
              <a:rPr lang="en-IN" smtClean="0"/>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3722767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F42C6B-38AD-415B-A6F2-CF9A196D78C0}" type="datetimeFigureOut">
              <a:rPr lang="en-IN" smtClean="0"/>
              <a:t>12-04-2024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3769581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9F42C6B-38AD-415B-A6F2-CF9A196D78C0}" type="datetimeFigureOut">
              <a:rPr lang="en-IN" smtClean="0"/>
              <a:t>12-04-2024</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3716401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9F42C6B-38AD-415B-A6F2-CF9A196D78C0}" type="datetimeFigureOut">
              <a:rPr lang="en-IN" smtClean="0"/>
              <a:t>12-04-2024</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1930287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9F42C6B-38AD-415B-A6F2-CF9A196D78C0}" type="datetimeFigureOut">
              <a:rPr lang="en-IN" smtClean="0"/>
              <a:t>12-04-2024</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2580911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F42C6B-38AD-415B-A6F2-CF9A196D78C0}" type="datetimeFigureOut">
              <a:rPr lang="en-IN" smtClean="0"/>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2840587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F42C6B-38AD-415B-A6F2-CF9A196D78C0}" type="datetimeFigureOut">
              <a:rPr lang="en-IN" smtClean="0"/>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304655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9F42C6B-38AD-415B-A6F2-CF9A196D78C0}"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541255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9F42C6B-38AD-415B-A6F2-CF9A196D78C0}"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11E0A-528C-49E5-82F6-8EEEC715FF5D}" type="slidenum">
              <a:rPr lang="en-IN" smtClean="0"/>
              <a:t>‹#›</a:t>
            </a:fld>
            <a:endParaRPr lang="en-IN"/>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6361014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F42C6B-38AD-415B-A6F2-CF9A196D78C0}"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42045287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9F42C6B-38AD-415B-A6F2-CF9A196D78C0}" type="datetimeFigureOut">
              <a:rPr lang="en-IN" smtClean="0"/>
              <a:t>12-04-2024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22098346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9F42C6B-38AD-415B-A6F2-CF9A196D78C0}" type="datetimeFigureOut">
              <a:rPr lang="en-IN" smtClean="0"/>
              <a:t>12-04-2024</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6160211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F42C6B-38AD-415B-A6F2-CF9A196D78C0}"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4037402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F42C6B-38AD-415B-A6F2-CF9A196D78C0}" type="datetimeFigureOut">
              <a:rPr lang="en-IN" smtClean="0"/>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A11E0A-528C-49E5-82F6-8EEEC715FF5D}" type="slidenum">
              <a:rPr lang="en-IN" smtClean="0"/>
              <a:t>‹#›</a:t>
            </a:fld>
            <a:endParaRPr lang="en-IN"/>
          </a:p>
        </p:txBody>
      </p:sp>
    </p:spTree>
    <p:extLst>
      <p:ext uri="{BB962C8B-B14F-4D97-AF65-F5344CB8AC3E}">
        <p14:creationId xmlns:p14="http://schemas.microsoft.com/office/powerpoint/2010/main" val="656476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9F42C6B-38AD-415B-A6F2-CF9A196D78C0}" type="datetimeFigureOut">
              <a:rPr lang="en-IN" smtClean="0"/>
              <a:t>12-04-2024</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3A11E0A-528C-49E5-82F6-8EEEC715FF5D}" type="slidenum">
              <a:rPr lang="en-IN" smtClean="0"/>
              <a:t>‹#›</a:t>
            </a:fld>
            <a:endParaRPr lang="en-IN"/>
          </a:p>
        </p:txBody>
      </p:sp>
    </p:spTree>
    <p:extLst>
      <p:ext uri="{BB962C8B-B14F-4D97-AF65-F5344CB8AC3E}">
        <p14:creationId xmlns:p14="http://schemas.microsoft.com/office/powerpoint/2010/main" val="967553694"/>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66,200+ Wildfire Stock Photos, Pictures &amp; Royalty-Free Images - iStock |  Bushfire australia, Wildfire california, Wildfire house">
            <a:extLst>
              <a:ext uri="{FF2B5EF4-FFF2-40B4-BE49-F238E27FC236}">
                <a16:creationId xmlns:a16="http://schemas.microsoft.com/office/drawing/2014/main" xmlns="" id="{FEB3942E-CC42-E1BE-C970-C70DB852994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0" y="0"/>
            <a:ext cx="12192000" cy="684550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xmlns="" id="{7EFA5A65-133A-26A8-19A9-CEF399707231}"/>
              </a:ext>
            </a:extLst>
          </p:cNvPr>
          <p:cNvSpPr/>
          <p:nvPr/>
        </p:nvSpPr>
        <p:spPr>
          <a:xfrm>
            <a:off x="2187681" y="812899"/>
            <a:ext cx="7816637" cy="2585323"/>
          </a:xfrm>
          <a:prstGeom prst="rect">
            <a:avLst/>
          </a:prstGeom>
          <a:noFill/>
        </p:spPr>
        <p:txBody>
          <a:bodyPr wrap="square" lIns="91440" tIns="45720" rIns="91440" bIns="45720">
            <a:spAutoFit/>
          </a:bodyPr>
          <a:lstStyle/>
          <a:p>
            <a:pPr algn="ctr" fontAlgn="base">
              <a:spcAft>
                <a:spcPts val="1200"/>
              </a:spcAft>
            </a:pPr>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Predictive Modeling Approach for California’s Wildfire Threat</a:t>
            </a:r>
            <a:r>
              <a:rPr lang="en-IN" sz="36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3200" dirty="0">
                <a:effectLst/>
                <a:latin typeface="Times New Roman" panose="02020603050405020304" pitchFamily="18" charset="0"/>
                <a:ea typeface="Times New Roman" panose="02020603050405020304" pitchFamily="18" charset="0"/>
                <a:cs typeface="Times New Roman" panose="02020603050405020304" pitchFamily="18" charset="0"/>
              </a:rPr>
              <a:t/>
            </a:r>
            <a:br>
              <a:rPr lang="en-IN" sz="32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3200" dirty="0">
                <a:effectLst/>
                <a:latin typeface="Times New Roman" panose="02020603050405020304" pitchFamily="18" charset="0"/>
                <a:ea typeface="Times New Roman" panose="02020603050405020304" pitchFamily="18" charset="0"/>
                <a:cs typeface="Times New Roman" panose="02020603050405020304" pitchFamily="18" charset="0"/>
              </a:rPr>
              <a:t/>
            </a:r>
            <a:br>
              <a:rPr lang="en-IN" sz="32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800" b="1" dirty="0">
                <a:effectLst/>
                <a:latin typeface="Times New Roman" panose="02020603050405020304" pitchFamily="18" charset="0"/>
                <a:ea typeface="Times New Roman" panose="02020603050405020304" pitchFamily="18" charset="0"/>
                <a:cs typeface="Times New Roman" panose="02020603050405020304" pitchFamily="18" charset="0"/>
              </a:rPr>
              <a:t>Group 33</a:t>
            </a: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algn="ctr" fontAlgn="base">
              <a:spcAft>
                <a:spcPts val="1200"/>
              </a:spcAf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04/11/2024</a:t>
            </a:r>
            <a:endParaRPr lang="en-IN" sz="24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57B9DAEE-6DBD-B0CE-2C4C-F2FB771B9D6E}"/>
              </a:ext>
            </a:extLst>
          </p:cNvPr>
          <p:cNvSpPr txBox="1"/>
          <p:nvPr/>
        </p:nvSpPr>
        <p:spPr>
          <a:xfrm>
            <a:off x="3772523" y="5715824"/>
            <a:ext cx="4646951" cy="984885"/>
          </a:xfrm>
          <a:prstGeom prst="rect">
            <a:avLst/>
          </a:prstGeom>
          <a:noFill/>
        </p:spPr>
        <p:txBody>
          <a:bodyPr wrap="square" rtlCol="0">
            <a:spAutoFit/>
          </a:bodyPr>
          <a:lstStyle/>
          <a:p>
            <a:pPr algn="ctr" fontAlgn="base">
              <a:spcAft>
                <a:spcPts val="1200"/>
              </a:spcAf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Sneha Manjunath Chakrabhavi</a:t>
            </a: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b="1" dirty="0">
              <a:latin typeface="Times New Roman" panose="02020603050405020304" pitchFamily="18" charset="0"/>
              <a:ea typeface="Calibri" panose="020F0502020204030204" pitchFamily="34" charset="0"/>
              <a:cs typeface="Times New Roman" panose="02020603050405020304" pitchFamily="18" charset="0"/>
            </a:endParaRPr>
          </a:p>
          <a:p>
            <a:pPr algn="ctr" fontAlgn="base">
              <a:spcAft>
                <a:spcPts val="1200"/>
              </a:spcAft>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Kruthika Srinivas Vasisht</a:t>
            </a: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 </a:t>
            </a:r>
          </a:p>
        </p:txBody>
      </p:sp>
      <p:sp>
        <p:nvSpPr>
          <p:cNvPr id="6" name="TextBox 5"/>
          <p:cNvSpPr txBox="1"/>
          <p:nvPr/>
        </p:nvSpPr>
        <p:spPr>
          <a:xfrm>
            <a:off x="2760958" y="3979899"/>
            <a:ext cx="6670080" cy="923330"/>
          </a:xfrm>
          <a:prstGeom prst="rect">
            <a:avLst/>
          </a:prstGeom>
          <a:noFill/>
        </p:spPr>
        <p:txBody>
          <a:bodyPr wrap="square" rtlCol="0">
            <a:spAutoFit/>
          </a:bodyPr>
          <a:lstStyle/>
          <a:p>
            <a:pPr algn="ctr"/>
            <a:r>
              <a:rPr lang="en-US" b="1" dirty="0"/>
              <a:t>Wildfires in California—devastating and more frequent than ever. But what if we could predict them before they happen</a:t>
            </a:r>
            <a:r>
              <a:rPr lang="en-US" b="1" dirty="0" smtClean="0"/>
              <a:t>?</a:t>
            </a:r>
            <a:endParaRPr lang="en-IN" b="1" dirty="0"/>
          </a:p>
        </p:txBody>
      </p:sp>
    </p:spTree>
    <p:extLst>
      <p:ext uri="{BB962C8B-B14F-4D97-AF65-F5344CB8AC3E}">
        <p14:creationId xmlns:p14="http://schemas.microsoft.com/office/powerpoint/2010/main" val="1140219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The Rising Threat</a:t>
            </a:r>
            <a:endParaRPr lang="en-IN" dirty="0"/>
          </a:p>
        </p:txBody>
      </p:sp>
      <p:sp>
        <p:nvSpPr>
          <p:cNvPr id="6" name="TextBox 5"/>
          <p:cNvSpPr txBox="1"/>
          <p:nvPr/>
        </p:nvSpPr>
        <p:spPr>
          <a:xfrm>
            <a:off x="6944264" y="3096883"/>
            <a:ext cx="4511615" cy="1477328"/>
          </a:xfrm>
          <a:prstGeom prst="rect">
            <a:avLst/>
          </a:prstGeom>
          <a:noFill/>
        </p:spPr>
        <p:txBody>
          <a:bodyPr wrap="square" rtlCol="0">
            <a:spAutoFit/>
          </a:bodyPr>
          <a:lstStyle/>
          <a:p>
            <a:pPr algn="just"/>
            <a:r>
              <a:rPr lang="en-US" dirty="0"/>
              <a:t>Wildfires in California have become more frequent and severe due to climate change and human activities, posing unprecedented challenges to disaster management and response</a:t>
            </a:r>
            <a:r>
              <a:rPr lang="en-US" dirty="0" smtClean="0"/>
              <a:t>.</a:t>
            </a:r>
            <a:endParaRPr lang="en-IN" dirty="0"/>
          </a:p>
        </p:txBody>
      </p:sp>
      <p:pic>
        <p:nvPicPr>
          <p:cNvPr id="8" name="Picture 7">
            <a:extLst>
              <a:ext uri="{FF2B5EF4-FFF2-40B4-BE49-F238E27FC236}">
                <a16:creationId xmlns:a16="http://schemas.microsoft.com/office/drawing/2014/main" xmlns="" id="{F32CBFE6-B42D-0043-7687-A4AD9019D395}"/>
              </a:ext>
            </a:extLst>
          </p:cNvPr>
          <p:cNvPicPr>
            <a:picLocks noChangeAspect="1"/>
          </p:cNvPicPr>
          <p:nvPr/>
        </p:nvPicPr>
        <p:blipFill rotWithShape="1">
          <a:blip r:embed="rId2"/>
          <a:srcRect r="3058"/>
          <a:stretch/>
        </p:blipFill>
        <p:spPr>
          <a:xfrm>
            <a:off x="391271" y="1853248"/>
            <a:ext cx="5724793" cy="4563241"/>
          </a:xfrm>
          <a:prstGeom prst="rect">
            <a:avLst/>
          </a:prstGeom>
        </p:spPr>
      </p:pic>
    </p:spTree>
    <p:extLst>
      <p:ext uri="{BB962C8B-B14F-4D97-AF65-F5344CB8AC3E}">
        <p14:creationId xmlns:p14="http://schemas.microsoft.com/office/powerpoint/2010/main" val="3880155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258" y="194601"/>
            <a:ext cx="9404723" cy="1400530"/>
          </a:xfrm>
        </p:spPr>
        <p:txBody>
          <a:bodyPr/>
          <a:lstStyle/>
          <a:p>
            <a:r>
              <a:rPr lang="en-US" dirty="0"/>
              <a:t>Harnessing Data to Fight Wildfires</a:t>
            </a:r>
            <a:endParaRPr lang="en-IN" dirty="0"/>
          </a:p>
        </p:txBody>
      </p:sp>
      <p:sp>
        <p:nvSpPr>
          <p:cNvPr id="3" name="Content Placeholder 2"/>
          <p:cNvSpPr>
            <a:spLocks noGrp="1"/>
          </p:cNvSpPr>
          <p:nvPr>
            <p:ph idx="1"/>
          </p:nvPr>
        </p:nvSpPr>
        <p:spPr>
          <a:xfrm>
            <a:off x="7139554" y="1246210"/>
            <a:ext cx="5052445" cy="3140184"/>
          </a:xfrm>
        </p:spPr>
        <p:txBody>
          <a:bodyPr>
            <a:normAutofit fontScale="92500" lnSpcReduction="10000"/>
          </a:bodyPr>
          <a:lstStyle/>
          <a:p>
            <a:r>
              <a:rPr lang="en-US" b="1" dirty="0" smtClean="0"/>
              <a:t>Key </a:t>
            </a:r>
            <a:r>
              <a:rPr lang="en-US" b="1" dirty="0"/>
              <a:t>Data Sources: </a:t>
            </a:r>
            <a:r>
              <a:rPr lang="en-US" dirty="0"/>
              <a:t>Detailed historical wildfire records from </a:t>
            </a:r>
            <a:r>
              <a:rPr lang="en-US" dirty="0" err="1"/>
              <a:t>Kaggle</a:t>
            </a:r>
            <a:r>
              <a:rPr lang="en-US" dirty="0"/>
              <a:t> and real-time data from </a:t>
            </a:r>
            <a:r>
              <a:rPr lang="en-US" dirty="0" smtClean="0"/>
              <a:t>Fire.CA.gov</a:t>
            </a:r>
            <a:endParaRPr lang="en-US" dirty="0"/>
          </a:p>
          <a:p>
            <a:r>
              <a:rPr lang="en-US" b="1" dirty="0" smtClean="0"/>
              <a:t>Data </a:t>
            </a:r>
            <a:r>
              <a:rPr lang="en-US" b="1" dirty="0"/>
              <a:t>Utilization: </a:t>
            </a:r>
            <a:r>
              <a:rPr lang="en-US" dirty="0"/>
              <a:t>Analyzing patterns from over 10,988 unique wildfire events to predict future </a:t>
            </a:r>
            <a:r>
              <a:rPr lang="en-US" dirty="0" smtClean="0"/>
              <a:t>occurrences</a:t>
            </a:r>
            <a:endParaRPr lang="en-US" dirty="0"/>
          </a:p>
          <a:p>
            <a:r>
              <a:rPr lang="en-US" b="1" dirty="0" smtClean="0"/>
              <a:t>Visualization </a:t>
            </a:r>
            <a:r>
              <a:rPr lang="en-US" b="1" dirty="0"/>
              <a:t>Techniques: </a:t>
            </a:r>
            <a:r>
              <a:rPr lang="en-US" dirty="0"/>
              <a:t>Employing </a:t>
            </a:r>
            <a:r>
              <a:rPr lang="en-US" dirty="0" err="1" smtClean="0"/>
              <a:t>heatmaps</a:t>
            </a:r>
            <a:r>
              <a:rPr lang="en-US" dirty="0" smtClean="0"/>
              <a:t> </a:t>
            </a:r>
            <a:r>
              <a:rPr lang="en-US" dirty="0"/>
              <a:t>and statistical analyses to identify critical factors influencing </a:t>
            </a:r>
            <a:r>
              <a:rPr lang="en-US" dirty="0" smtClean="0"/>
              <a:t>wildfires</a:t>
            </a:r>
            <a:endParaRPr lang="en-US" dirty="0"/>
          </a:p>
          <a:p>
            <a:endParaRPr lang="en-IN" dirty="0"/>
          </a:p>
        </p:txBody>
      </p:sp>
      <p:pic>
        <p:nvPicPr>
          <p:cNvPr id="4" name="Picture 3">
            <a:extLst>
              <a:ext uri="{FF2B5EF4-FFF2-40B4-BE49-F238E27FC236}">
                <a16:creationId xmlns:a16="http://schemas.microsoft.com/office/drawing/2014/main" xmlns="" id="{0AA32DC6-1D9D-42F2-7779-742EE384C42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258" y="4226942"/>
            <a:ext cx="3576137" cy="2461805"/>
          </a:xfrm>
          <a:prstGeom prst="rect">
            <a:avLst/>
          </a:prstGeom>
          <a:noFill/>
          <a:ln>
            <a:noFill/>
          </a:ln>
        </p:spPr>
      </p:pic>
      <p:pic>
        <p:nvPicPr>
          <p:cNvPr id="5" name="Picture 2">
            <a:extLst>
              <a:ext uri="{FF2B5EF4-FFF2-40B4-BE49-F238E27FC236}">
                <a16:creationId xmlns:a16="http://schemas.microsoft.com/office/drawing/2014/main" xmlns="" id="{D89F9426-5C8E-0661-E75C-D3081D3EA8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7475" y="4226942"/>
            <a:ext cx="3162450" cy="252079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xmlns="" id="{DBBA6B07-C408-F2B3-6558-5DDEB91B0FA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7698" y="1394950"/>
            <a:ext cx="4361731" cy="262369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xmlns="" id="{17538CEE-C87B-20D8-E389-5EAA4E3AF908}"/>
              </a:ext>
            </a:extLst>
          </p:cNvPr>
          <p:cNvPicPr>
            <a:picLocks noChangeAspect="1"/>
          </p:cNvPicPr>
          <p:nvPr/>
        </p:nvPicPr>
        <p:blipFill rotWithShape="1">
          <a:blip r:embed="rId5">
            <a:extLst>
              <a:ext uri="{28A0092B-C50C-407E-A947-70E740481C1C}">
                <a14:useLocalDpi xmlns:a14="http://schemas.microsoft.com/office/drawing/2010/main" val="0"/>
              </a:ext>
            </a:extLst>
          </a:blip>
          <a:srcRect l="25157" r="50736"/>
          <a:stretch/>
        </p:blipFill>
        <p:spPr bwMode="auto">
          <a:xfrm flipV="1">
            <a:off x="5249599" y="3330922"/>
            <a:ext cx="1156943" cy="801132"/>
          </a:xfrm>
          <a:prstGeom prst="rect">
            <a:avLst/>
          </a:prstGeom>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xmlns="" id="{36D69D38-5BF3-7C5B-7ADF-20882D45E339}"/>
              </a:ext>
            </a:extLst>
          </p:cNvPr>
          <p:cNvPicPr>
            <a:picLocks noChangeAspect="1"/>
          </p:cNvPicPr>
          <p:nvPr/>
        </p:nvPicPr>
        <p:blipFill rotWithShape="1">
          <a:blip r:embed="rId5">
            <a:extLst>
              <a:ext uri="{28A0092B-C50C-407E-A947-70E740481C1C}">
                <a14:useLocalDpi xmlns:a14="http://schemas.microsoft.com/office/drawing/2010/main" val="0"/>
              </a:ext>
            </a:extLst>
          </a:blip>
          <a:srcRect l="962" r="74887"/>
          <a:stretch/>
        </p:blipFill>
        <p:spPr bwMode="auto">
          <a:xfrm flipV="1">
            <a:off x="5225130" y="2405832"/>
            <a:ext cx="1181412" cy="820941"/>
          </a:xfrm>
          <a:prstGeom prst="rect">
            <a:avLst/>
          </a:prstGeom>
          <a:ln>
            <a:no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xmlns="" id="{F14135A9-43F3-2788-EED3-D88595B156AB}"/>
              </a:ext>
            </a:extLst>
          </p:cNvPr>
          <p:cNvPicPr>
            <a:picLocks noChangeAspect="1"/>
          </p:cNvPicPr>
          <p:nvPr/>
        </p:nvPicPr>
        <p:blipFill rotWithShape="1">
          <a:blip r:embed="rId5">
            <a:extLst>
              <a:ext uri="{28A0092B-C50C-407E-A947-70E740481C1C}">
                <a14:useLocalDpi xmlns:a14="http://schemas.microsoft.com/office/drawing/2010/main" val="0"/>
              </a:ext>
            </a:extLst>
          </a:blip>
          <a:srcRect l="49264" r="26104"/>
          <a:stretch/>
        </p:blipFill>
        <p:spPr bwMode="auto">
          <a:xfrm flipV="1">
            <a:off x="5225130" y="1451898"/>
            <a:ext cx="1159206" cy="802699"/>
          </a:xfrm>
          <a:prstGeom prst="rect">
            <a:avLst/>
          </a:prstGeom>
          <a:ln>
            <a:noFill/>
          </a:ln>
          <a:extLst>
            <a:ext uri="{53640926-AAD7-44D8-BBD7-CCE9431645EC}">
              <a14:shadowObscured xmlns:a14="http://schemas.microsoft.com/office/drawing/2010/main"/>
            </a:ext>
          </a:extLst>
        </p:spPr>
      </p:pic>
      <p:pic>
        <p:nvPicPr>
          <p:cNvPr id="10" name="Picture 9"/>
          <p:cNvPicPr>
            <a:picLocks noChangeAspect="1"/>
          </p:cNvPicPr>
          <p:nvPr/>
        </p:nvPicPr>
        <p:blipFill>
          <a:blip r:embed="rId6"/>
          <a:stretch>
            <a:fillRect/>
          </a:stretch>
        </p:blipFill>
        <p:spPr>
          <a:xfrm>
            <a:off x="7694451" y="4226942"/>
            <a:ext cx="4132363" cy="2461805"/>
          </a:xfrm>
          <a:prstGeom prst="rect">
            <a:avLst/>
          </a:prstGeom>
        </p:spPr>
      </p:pic>
    </p:spTree>
    <p:extLst>
      <p:ext uri="{BB962C8B-B14F-4D97-AF65-F5344CB8AC3E}">
        <p14:creationId xmlns:p14="http://schemas.microsoft.com/office/powerpoint/2010/main" val="242431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9"/>
                                        </p:tgtEl>
                                      </p:cBhvr>
                                    </p:animEffect>
                                    <p:animScale>
                                      <p:cBhvr>
                                        <p:cTn id="12" dur="250" autoRev="1" fill="hold"/>
                                        <p:tgtEl>
                                          <p:spTgt spid="9"/>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500" tmFilter="0, 0; .2, .5; .8, .5; 1, 0"/>
                                        <p:tgtEl>
                                          <p:spTgt spid="8"/>
                                        </p:tgtEl>
                                      </p:cBhvr>
                                    </p:animEffect>
                                    <p:animScale>
                                      <p:cBhvr>
                                        <p:cTn id="17" dur="250" autoRev="1" fill="hold"/>
                                        <p:tgtEl>
                                          <p:spTgt spid="8"/>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nodeType="clickEffect">
                                  <p:stCondLst>
                                    <p:cond delay="0"/>
                                  </p:stCondLst>
                                  <p:childTnLst>
                                    <p:animEffect transition="out" filter="fade">
                                      <p:cBhvr>
                                        <p:cTn id="21" dur="500" tmFilter="0, 0; .2, .5; .8, .5; 1, 0"/>
                                        <p:tgtEl>
                                          <p:spTgt spid="7"/>
                                        </p:tgtEl>
                                      </p:cBhvr>
                                    </p:animEffect>
                                    <p:animScale>
                                      <p:cBhvr>
                                        <p:cTn id="22" dur="250" autoRev="1" fill="hold"/>
                                        <p:tgtEl>
                                          <p:spTgt spid="7"/>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nodeType="clickEffect">
                                  <p:stCondLst>
                                    <p:cond delay="0"/>
                                  </p:stCondLst>
                                  <p:childTnLst>
                                    <p:animEffect transition="out" filter="fade">
                                      <p:cBhvr>
                                        <p:cTn id="26" dur="500" tmFilter="0, 0; .2, .5; .8, .5; 1, 0"/>
                                        <p:tgtEl>
                                          <p:spTgt spid="4"/>
                                        </p:tgtEl>
                                      </p:cBhvr>
                                    </p:animEffect>
                                    <p:animScale>
                                      <p:cBhvr>
                                        <p:cTn id="27" dur="250" autoRev="1" fill="hold"/>
                                        <p:tgtEl>
                                          <p:spTgt spid="4"/>
                                        </p:tgtEl>
                                      </p:cBhvr>
                                      <p:by x="105000" y="105000"/>
                                    </p:animScale>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nodeType="clickEffect">
                                  <p:stCondLst>
                                    <p:cond delay="0"/>
                                  </p:stCondLst>
                                  <p:childTnLst>
                                    <p:animEffect transition="out" filter="fade">
                                      <p:cBhvr>
                                        <p:cTn id="31" dur="500" tmFilter="0, 0; .2, .5; .8, .5; 1, 0"/>
                                        <p:tgtEl>
                                          <p:spTgt spid="5"/>
                                        </p:tgtEl>
                                      </p:cBhvr>
                                    </p:animEffect>
                                    <p:animScale>
                                      <p:cBhvr>
                                        <p:cTn id="32" dur="250" autoRev="1" fill="hold"/>
                                        <p:tgtEl>
                                          <p:spTgt spid="5"/>
                                        </p:tgtEl>
                                      </p:cBhvr>
                                      <p:by x="105000" y="105000"/>
                                    </p:animScale>
                                  </p:childTnLst>
                                </p:cTn>
                              </p:par>
                            </p:childTnLst>
                          </p:cTn>
                        </p:par>
                      </p:childTnLst>
                    </p:cTn>
                  </p:par>
                  <p:par>
                    <p:cTn id="33" fill="hold">
                      <p:stCondLst>
                        <p:cond delay="indefinite"/>
                      </p:stCondLst>
                      <p:childTnLst>
                        <p:par>
                          <p:cTn id="34" fill="hold">
                            <p:stCondLst>
                              <p:cond delay="0"/>
                            </p:stCondLst>
                            <p:childTnLst>
                              <p:par>
                                <p:cTn id="35" presetID="26" presetClass="emph" presetSubtype="0" fill="hold" nodeType="clickEffect">
                                  <p:stCondLst>
                                    <p:cond delay="0"/>
                                  </p:stCondLst>
                                  <p:childTnLst>
                                    <p:animEffect transition="out" filter="fade">
                                      <p:cBhvr>
                                        <p:cTn id="36" dur="500" tmFilter="0, 0; .2, .5; .8, .5; 1, 0"/>
                                        <p:tgtEl>
                                          <p:spTgt spid="10"/>
                                        </p:tgtEl>
                                      </p:cBhvr>
                                    </p:animEffect>
                                    <p:animScale>
                                      <p:cBhvr>
                                        <p:cTn id="3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779" y="142167"/>
            <a:ext cx="9404723" cy="1400530"/>
          </a:xfrm>
        </p:spPr>
        <p:txBody>
          <a:bodyPr/>
          <a:lstStyle/>
          <a:p>
            <a:r>
              <a:rPr lang="en-IN" dirty="0"/>
              <a:t>Identifying High-Risk Areas</a:t>
            </a:r>
            <a:endParaRPr lang="en-IN" dirty="0"/>
          </a:p>
        </p:txBody>
      </p:sp>
      <p:sp>
        <p:nvSpPr>
          <p:cNvPr id="3" name="Content Placeholder 2"/>
          <p:cNvSpPr>
            <a:spLocks noGrp="1"/>
          </p:cNvSpPr>
          <p:nvPr>
            <p:ph idx="1"/>
          </p:nvPr>
        </p:nvSpPr>
        <p:spPr>
          <a:xfrm>
            <a:off x="5503653" y="1826608"/>
            <a:ext cx="6688347" cy="4195481"/>
          </a:xfrm>
        </p:spPr>
        <p:txBody>
          <a:bodyPr/>
          <a:lstStyle/>
          <a:p>
            <a:r>
              <a:rPr lang="en-US" dirty="0" smtClean="0"/>
              <a:t>Our </a:t>
            </a:r>
            <a:r>
              <a:rPr lang="en-US" dirty="0"/>
              <a:t>predictive modeling utilizes a suite of sophisticated machine learning algorithms to accurately forecast high-risk wildfire </a:t>
            </a:r>
            <a:r>
              <a:rPr lang="en-US" dirty="0" smtClean="0"/>
              <a:t>zones</a:t>
            </a:r>
            <a:endParaRPr lang="en-US" dirty="0"/>
          </a:p>
          <a:p>
            <a:r>
              <a:rPr lang="en-US" b="1" dirty="0" smtClean="0"/>
              <a:t>Models </a:t>
            </a:r>
            <a:r>
              <a:rPr lang="en-US" b="1" dirty="0"/>
              <a:t>Deployed: </a:t>
            </a:r>
            <a:r>
              <a:rPr lang="en-US" dirty="0"/>
              <a:t>Random Forest, Logistic Regression, K-Nearest Neighbors (KNN), and Decision Trees—each chosen for their robust performance in binary classification </a:t>
            </a:r>
            <a:r>
              <a:rPr lang="en-US" dirty="0" smtClean="0"/>
              <a:t>tasks. Best performing model was Random Forest.</a:t>
            </a:r>
            <a:endParaRPr lang="en-US" dirty="0"/>
          </a:p>
          <a:p>
            <a:r>
              <a:rPr lang="en-US" b="1" dirty="0" smtClean="0"/>
              <a:t>Outcome</a:t>
            </a:r>
            <a:r>
              <a:rPr lang="en-US" b="1" dirty="0"/>
              <a:t>: </a:t>
            </a:r>
            <a:r>
              <a:rPr lang="en-US" dirty="0"/>
              <a:t>The ability to proactively identify and prioritize interventions in potential wildfire hotspots significantly enhances disaster readiness and resource </a:t>
            </a:r>
            <a:r>
              <a:rPr lang="en-US" dirty="0" smtClean="0"/>
              <a:t>allocation </a:t>
            </a:r>
            <a:endParaRPr lang="en-IN" dirty="0"/>
          </a:p>
        </p:txBody>
      </p:sp>
      <p:pic>
        <p:nvPicPr>
          <p:cNvPr id="4" name="Picture 3">
            <a:extLst>
              <a:ext uri="{FF2B5EF4-FFF2-40B4-BE49-F238E27FC236}">
                <a16:creationId xmlns:a16="http://schemas.microsoft.com/office/drawing/2014/main" xmlns="" id="{A7DA9962-4138-B91A-CD21-F7FD36CC12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974" y="1375364"/>
            <a:ext cx="4170257" cy="3498561"/>
          </a:xfrm>
          <a:prstGeom prst="rect">
            <a:avLst/>
          </a:prstGeom>
        </p:spPr>
      </p:pic>
      <p:pic>
        <p:nvPicPr>
          <p:cNvPr id="5" name="Picture 4">
            <a:extLst>
              <a:ext uri="{FF2B5EF4-FFF2-40B4-BE49-F238E27FC236}">
                <a16:creationId xmlns:a16="http://schemas.microsoft.com/office/drawing/2014/main" xmlns="" id="{2C1502B9-2A63-C9AC-3E68-9E24B8115B5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1009" y="5086430"/>
            <a:ext cx="4960189" cy="1521403"/>
          </a:xfrm>
          <a:prstGeom prst="rect">
            <a:avLst/>
          </a:prstGeom>
          <a:noFill/>
          <a:ln>
            <a:noFill/>
          </a:ln>
        </p:spPr>
      </p:pic>
    </p:spTree>
    <p:extLst>
      <p:ext uri="{BB962C8B-B14F-4D97-AF65-F5344CB8AC3E}">
        <p14:creationId xmlns:p14="http://schemas.microsoft.com/office/powerpoint/2010/main" val="882861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Enhancing Emergency Responses</a:t>
            </a:r>
            <a:endParaRPr lang="en-IN" dirty="0"/>
          </a:p>
        </p:txBody>
      </p:sp>
      <p:sp>
        <p:nvSpPr>
          <p:cNvPr id="3" name="Content Placeholder 2"/>
          <p:cNvSpPr>
            <a:spLocks noGrp="1"/>
          </p:cNvSpPr>
          <p:nvPr>
            <p:ph idx="1"/>
          </p:nvPr>
        </p:nvSpPr>
        <p:spPr>
          <a:xfrm>
            <a:off x="646111" y="1518225"/>
            <a:ext cx="8946541" cy="4195481"/>
          </a:xfrm>
        </p:spPr>
        <p:txBody>
          <a:bodyPr/>
          <a:lstStyle/>
          <a:p>
            <a:r>
              <a:rPr lang="en-US" b="1" dirty="0" smtClean="0"/>
              <a:t>Efficiency</a:t>
            </a:r>
            <a:r>
              <a:rPr lang="en-US" b="1" dirty="0"/>
              <a:t>: </a:t>
            </a:r>
            <a:r>
              <a:rPr lang="en-US" dirty="0"/>
              <a:t>Predictive insights facilitate faster mobilization of emergency </a:t>
            </a:r>
            <a:r>
              <a:rPr lang="en-US" dirty="0" smtClean="0"/>
              <a:t>resources</a:t>
            </a:r>
            <a:endParaRPr lang="en-US" dirty="0"/>
          </a:p>
          <a:p>
            <a:r>
              <a:rPr lang="en-US" b="1" dirty="0" smtClean="0"/>
              <a:t>Precision</a:t>
            </a:r>
            <a:r>
              <a:rPr lang="en-US" b="1" dirty="0"/>
              <a:t>: </a:t>
            </a:r>
            <a:r>
              <a:rPr lang="en-US" dirty="0"/>
              <a:t>Targeted interventions in high-risk areas before a fire can </a:t>
            </a:r>
            <a:r>
              <a:rPr lang="en-US" dirty="0" smtClean="0"/>
              <a:t>spread</a:t>
            </a:r>
            <a:endParaRPr lang="en-US" dirty="0"/>
          </a:p>
          <a:p>
            <a:r>
              <a:rPr lang="en-US" b="1" dirty="0" smtClean="0"/>
              <a:t>Effectiveness</a:t>
            </a:r>
            <a:r>
              <a:rPr lang="en-US" b="1" dirty="0"/>
              <a:t>: </a:t>
            </a:r>
            <a:r>
              <a:rPr lang="en-US" dirty="0"/>
              <a:t>Improved planning and readiness result in significantly reduced damage and faster </a:t>
            </a:r>
            <a:r>
              <a:rPr lang="en-US" dirty="0" smtClean="0"/>
              <a:t>recovery</a:t>
            </a:r>
            <a:endParaRPr lang="en-US" dirty="0"/>
          </a:p>
          <a:p>
            <a:pPr marL="0" indent="0">
              <a:buNone/>
            </a:pPr>
            <a:endParaRPr lang="en-IN" dirty="0"/>
          </a:p>
        </p:txBody>
      </p:sp>
      <p:sp>
        <p:nvSpPr>
          <p:cNvPr id="10" name="AutoShape 14" descr="A simple predictive map of California, showing high-risk wildfire zones. The map should be color-coded to indicate different risk levels, with a clear and professional design suitable for a presentation on disaster manageme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112" name="Picture 16" descr="California wildfires have already burned 2.2 million acres in 2020 — more  than any year on record - CBS New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929" y="3877787"/>
            <a:ext cx="3817971" cy="2782181"/>
          </a:xfrm>
          <a:prstGeom prst="rect">
            <a:avLst/>
          </a:prstGeom>
          <a:noFill/>
          <a:extLst>
            <a:ext uri="{909E8E84-426E-40DD-AFC4-6F175D3DCCD1}">
              <a14:hiddenFill xmlns:a14="http://schemas.microsoft.com/office/drawing/2010/main">
                <a:solidFill>
                  <a:srgbClr val="FFFFFF"/>
                </a:solidFill>
              </a14:hiddenFill>
            </a:ext>
          </a:extLst>
        </p:spPr>
      </p:pic>
      <p:pic>
        <p:nvPicPr>
          <p:cNvPr id="4114" name="Picture 18" descr="Death toll rises as California wildfires continue to burn - Los Angeles  Tim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8320" y="3917890"/>
            <a:ext cx="3817971" cy="2742078"/>
          </a:xfrm>
          <a:prstGeom prst="rect">
            <a:avLst/>
          </a:prstGeom>
          <a:noFill/>
          <a:extLst>
            <a:ext uri="{909E8E84-426E-40DD-AFC4-6F175D3DCCD1}">
              <a14:hiddenFill xmlns:a14="http://schemas.microsoft.com/office/drawing/2010/main">
                <a:solidFill>
                  <a:srgbClr val="FFFFFF"/>
                </a:solidFill>
              </a14:hiddenFill>
            </a:ext>
          </a:extLst>
        </p:spPr>
      </p:pic>
      <p:pic>
        <p:nvPicPr>
          <p:cNvPr id="4116" name="Picture 20" descr="California wildfires altering ecosystems, disrupting wildlife habitats:  Study - ABC New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25062" y="3927984"/>
            <a:ext cx="3844095" cy="2731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19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112"/>
                                        </p:tgtEl>
                                        <p:attrNameLst>
                                          <p:attrName>style.visibility</p:attrName>
                                        </p:attrNameLst>
                                      </p:cBhvr>
                                      <p:to>
                                        <p:strVal val="visible"/>
                                      </p:to>
                                    </p:set>
                                    <p:animEffect transition="in" filter="fade">
                                      <p:cBhvr>
                                        <p:cTn id="7" dur="1000"/>
                                        <p:tgtEl>
                                          <p:spTgt spid="4112"/>
                                        </p:tgtEl>
                                      </p:cBhvr>
                                    </p:animEffect>
                                    <p:anim calcmode="lin" valueType="num">
                                      <p:cBhvr>
                                        <p:cTn id="8" dur="1000" fill="hold"/>
                                        <p:tgtEl>
                                          <p:spTgt spid="4112"/>
                                        </p:tgtEl>
                                        <p:attrNameLst>
                                          <p:attrName>ppt_x</p:attrName>
                                        </p:attrNameLst>
                                      </p:cBhvr>
                                      <p:tavLst>
                                        <p:tav tm="0">
                                          <p:val>
                                            <p:strVal val="#ppt_x"/>
                                          </p:val>
                                        </p:tav>
                                        <p:tav tm="100000">
                                          <p:val>
                                            <p:strVal val="#ppt_x"/>
                                          </p:val>
                                        </p:tav>
                                      </p:tavLst>
                                    </p:anim>
                                    <p:anim calcmode="lin" valueType="num">
                                      <p:cBhvr>
                                        <p:cTn id="9" dur="1000" fill="hold"/>
                                        <p:tgtEl>
                                          <p:spTgt spid="41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116"/>
                                        </p:tgtEl>
                                        <p:attrNameLst>
                                          <p:attrName>style.visibility</p:attrName>
                                        </p:attrNameLst>
                                      </p:cBhvr>
                                      <p:to>
                                        <p:strVal val="visible"/>
                                      </p:to>
                                    </p:set>
                                    <p:animEffect transition="in" filter="fade">
                                      <p:cBhvr>
                                        <p:cTn id="14" dur="1000"/>
                                        <p:tgtEl>
                                          <p:spTgt spid="4116"/>
                                        </p:tgtEl>
                                      </p:cBhvr>
                                    </p:animEffect>
                                    <p:anim calcmode="lin" valueType="num">
                                      <p:cBhvr>
                                        <p:cTn id="15" dur="1000" fill="hold"/>
                                        <p:tgtEl>
                                          <p:spTgt spid="4116"/>
                                        </p:tgtEl>
                                        <p:attrNameLst>
                                          <p:attrName>ppt_x</p:attrName>
                                        </p:attrNameLst>
                                      </p:cBhvr>
                                      <p:tavLst>
                                        <p:tav tm="0">
                                          <p:val>
                                            <p:strVal val="#ppt_x"/>
                                          </p:val>
                                        </p:tav>
                                        <p:tav tm="100000">
                                          <p:val>
                                            <p:strVal val="#ppt_x"/>
                                          </p:val>
                                        </p:tav>
                                      </p:tavLst>
                                    </p:anim>
                                    <p:anim calcmode="lin" valueType="num">
                                      <p:cBhvr>
                                        <p:cTn id="16" dur="1000" fill="hold"/>
                                        <p:tgtEl>
                                          <p:spTgt spid="41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114"/>
                                        </p:tgtEl>
                                        <p:attrNameLst>
                                          <p:attrName>style.visibility</p:attrName>
                                        </p:attrNameLst>
                                      </p:cBhvr>
                                      <p:to>
                                        <p:strVal val="visible"/>
                                      </p:to>
                                    </p:set>
                                    <p:animEffect transition="in" filter="fade">
                                      <p:cBhvr>
                                        <p:cTn id="21" dur="1000"/>
                                        <p:tgtEl>
                                          <p:spTgt spid="4114"/>
                                        </p:tgtEl>
                                      </p:cBhvr>
                                    </p:animEffect>
                                    <p:anim calcmode="lin" valueType="num">
                                      <p:cBhvr>
                                        <p:cTn id="22" dur="1000" fill="hold"/>
                                        <p:tgtEl>
                                          <p:spTgt spid="4114"/>
                                        </p:tgtEl>
                                        <p:attrNameLst>
                                          <p:attrName>ppt_x</p:attrName>
                                        </p:attrNameLst>
                                      </p:cBhvr>
                                      <p:tavLst>
                                        <p:tav tm="0">
                                          <p:val>
                                            <p:strVal val="#ppt_x"/>
                                          </p:val>
                                        </p:tav>
                                        <p:tav tm="100000">
                                          <p:val>
                                            <p:strVal val="#ppt_x"/>
                                          </p:val>
                                        </p:tav>
                                      </p:tavLst>
                                    </p:anim>
                                    <p:anim calcmode="lin" valueType="num">
                                      <p:cBhvr>
                                        <p:cTn id="23" dur="1000" fill="hold"/>
                                        <p:tgtEl>
                                          <p:spTgt spid="41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Predict and Protect</a:t>
            </a:r>
            <a:endParaRPr lang="en-IN" dirty="0"/>
          </a:p>
        </p:txBody>
      </p:sp>
      <p:sp>
        <p:nvSpPr>
          <p:cNvPr id="3" name="Content Placeholder 2"/>
          <p:cNvSpPr>
            <a:spLocks noGrp="1"/>
          </p:cNvSpPr>
          <p:nvPr>
            <p:ph idx="1"/>
          </p:nvPr>
        </p:nvSpPr>
        <p:spPr>
          <a:xfrm>
            <a:off x="155575" y="1354178"/>
            <a:ext cx="11793178" cy="4195481"/>
          </a:xfrm>
        </p:spPr>
        <p:txBody>
          <a:bodyPr/>
          <a:lstStyle/>
          <a:p>
            <a:pPr marL="0" indent="0">
              <a:buNone/>
            </a:pPr>
            <a:r>
              <a:rPr lang="en-US" dirty="0"/>
              <a:t>Our model not only predicts but also protects. By understanding where and when wildfires are most likely to occur, we equip California with the knowledge to mitigate risks effectively, safeguarding lives, property, and ecosystems.</a:t>
            </a:r>
            <a:endParaRPr lang="en-IN" dirty="0"/>
          </a:p>
        </p:txBody>
      </p:sp>
      <p:sp>
        <p:nvSpPr>
          <p:cNvPr id="4" name="AutoShape 2" descr="A hopeful image showing a community meeting in a serene outdoor setting, discussing proactive wildfire management. The setting should depict a diverse group of people gathered around a table with maps and digital devices, under the shade of trees, symbolizing collaboration and preparation against wildfires. The image should convey a sense of unity and determination, suitable for a professional presentation slide on disaster manageme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A hopeful and inspiring image for a presentation slide, showing a community meeting where diverse people are collaboratively discussing wildfire prevention strategies. The setting is a community center, depicted without any visible text or charts. The image should focus on the diversity and engagement of the group, suitable for concluding a professional presentation on disaster managemen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p:cNvPicPr>
            <a:picLocks noChangeAspect="1"/>
          </p:cNvPicPr>
          <p:nvPr/>
        </p:nvPicPr>
        <p:blipFill>
          <a:blip r:embed="rId2"/>
          <a:stretch>
            <a:fillRect/>
          </a:stretch>
        </p:blipFill>
        <p:spPr>
          <a:xfrm>
            <a:off x="7842004" y="2601038"/>
            <a:ext cx="4106749" cy="4077909"/>
          </a:xfrm>
          <a:prstGeom prst="rect">
            <a:avLst/>
          </a:prstGeom>
        </p:spPr>
      </p:pic>
      <p:pic>
        <p:nvPicPr>
          <p:cNvPr id="8" name="Picture 7"/>
          <p:cNvPicPr>
            <a:picLocks noChangeAspect="1"/>
          </p:cNvPicPr>
          <p:nvPr/>
        </p:nvPicPr>
        <p:blipFill>
          <a:blip r:embed="rId3"/>
          <a:stretch>
            <a:fillRect/>
          </a:stretch>
        </p:blipFill>
        <p:spPr>
          <a:xfrm>
            <a:off x="155575" y="2601038"/>
            <a:ext cx="4001254" cy="3961525"/>
          </a:xfrm>
          <a:prstGeom prst="rect">
            <a:avLst/>
          </a:prstGeom>
        </p:spPr>
      </p:pic>
      <p:sp>
        <p:nvSpPr>
          <p:cNvPr id="9" name="Content Placeholder 2"/>
          <p:cNvSpPr txBox="1">
            <a:spLocks/>
          </p:cNvSpPr>
          <p:nvPr/>
        </p:nvSpPr>
        <p:spPr>
          <a:xfrm>
            <a:off x="4752368" y="2894688"/>
            <a:ext cx="2599592"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0" indent="0">
              <a:buNone/>
            </a:pPr>
            <a:r>
              <a:rPr lang="en-US" b="1" i="1" dirty="0" smtClean="0"/>
              <a:t>Let’s </a:t>
            </a:r>
            <a:r>
              <a:rPr lang="en-US" b="1" i="1" dirty="0"/>
              <a:t>Predict and Protect </a:t>
            </a:r>
            <a:r>
              <a:rPr lang="en-US" b="1" i="1" dirty="0" smtClean="0"/>
              <a:t>Together:</a:t>
            </a:r>
            <a:endParaRPr lang="en-US" i="1" dirty="0"/>
          </a:p>
          <a:p>
            <a:pPr marL="0" indent="0">
              <a:buFont typeface="Wingdings 3" charset="2"/>
              <a:buNone/>
            </a:pPr>
            <a:r>
              <a:rPr lang="en-US" dirty="0" smtClean="0"/>
              <a:t>Join us in refining these models and expanding their reach. Together, we can turn data into action and make California a safer place for all</a:t>
            </a:r>
            <a:endParaRPr lang="en-IN" dirty="0"/>
          </a:p>
        </p:txBody>
      </p:sp>
    </p:spTree>
    <p:extLst>
      <p:ext uri="{BB962C8B-B14F-4D97-AF65-F5344CB8AC3E}">
        <p14:creationId xmlns:p14="http://schemas.microsoft.com/office/powerpoint/2010/main" val="2027381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descr="66,200+ Wildfire Stock Photos, Pictures &amp; Royalty-Free Images - iStock |  Bushfire australia, Wildfire california, Wildfire house">
            <a:extLst>
              <a:ext uri="{FF2B5EF4-FFF2-40B4-BE49-F238E27FC236}">
                <a16:creationId xmlns:a16="http://schemas.microsoft.com/office/drawing/2014/main" xmlns="" id="{4A3AAE7C-1692-B73D-A65A-E2C02218AF8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0" y="0"/>
            <a:ext cx="12192000" cy="684550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xmlns="" id="{7BA94F8A-1B54-223F-B2E9-8AFFF904F8EB}"/>
              </a:ext>
            </a:extLst>
          </p:cNvPr>
          <p:cNvSpPr txBox="1"/>
          <p:nvPr/>
        </p:nvSpPr>
        <p:spPr>
          <a:xfrm>
            <a:off x="4098387" y="2721114"/>
            <a:ext cx="3995225" cy="707886"/>
          </a:xfrm>
          <a:prstGeom prst="rect">
            <a:avLst/>
          </a:prstGeom>
          <a:noFill/>
        </p:spPr>
        <p:txBody>
          <a:bodyPr wrap="square" rtlCol="0">
            <a:spAutoFit/>
          </a:bodyPr>
          <a:lstStyle/>
          <a:p>
            <a:pPr algn="ctr"/>
            <a:r>
              <a:rPr lang="en-IN" sz="4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27936761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1854</TotalTime>
  <Words>300</Words>
  <Application>Microsoft Office PowerPoint</Application>
  <PresentationFormat>Widescreen</PresentationFormat>
  <Paragraphs>24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Century Gothic</vt:lpstr>
      <vt:lpstr>Times New Roman</vt:lpstr>
      <vt:lpstr>Wingdings 3</vt:lpstr>
      <vt:lpstr>Ion</vt:lpstr>
      <vt:lpstr>PowerPoint Presentation</vt:lpstr>
      <vt:lpstr>The Rising Threat</vt:lpstr>
      <vt:lpstr>Harnessing Data to Fight Wildfires</vt:lpstr>
      <vt:lpstr>Identifying High-Risk Areas</vt:lpstr>
      <vt:lpstr>Enhancing Emergency Responses</vt:lpstr>
      <vt:lpstr>Predict and Protect</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Sneha Manjunath Chakrabhavi</dc:creator>
  <cp:lastModifiedBy>Microsoft account</cp:lastModifiedBy>
  <cp:revision>98</cp:revision>
  <dcterms:created xsi:type="dcterms:W3CDTF">2024-04-05T19:29:09Z</dcterms:created>
  <dcterms:modified xsi:type="dcterms:W3CDTF">2024-04-13T02:28:48Z</dcterms:modified>
</cp:coreProperties>
</file>